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3" r:id="rId2"/>
    <p:sldId id="261" r:id="rId3"/>
    <p:sldId id="260" r:id="rId4"/>
    <p:sldId id="256" r:id="rId5"/>
    <p:sldId id="258" r:id="rId6"/>
    <p:sldId id="257" r:id="rId7"/>
    <p:sldId id="262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89F27B-25EF-D0CF-70BE-8FDEF3D47967}" name="Nishant Verma" initials="NV" userId="eb07076f307cfaf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17FF"/>
    <a:srgbClr val="FFA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4" d="100"/>
          <a:sy n="74" d="100"/>
        </p:scale>
        <p:origin x="1042" y="96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shant Verma" userId="eb07076f307cfaf5" providerId="LiveId" clId="{20A4A54E-9890-4D0A-8A26-AE0751A97230}"/>
    <pc:docChg chg="modSld">
      <pc:chgData name="Nishant Verma" userId="eb07076f307cfaf5" providerId="LiveId" clId="{20A4A54E-9890-4D0A-8A26-AE0751A97230}" dt="2025-11-24T06:16:36.332" v="0" actId="1036"/>
      <pc:docMkLst>
        <pc:docMk/>
      </pc:docMkLst>
      <pc:sldChg chg="modSp mod">
        <pc:chgData name="Nishant Verma" userId="eb07076f307cfaf5" providerId="LiveId" clId="{20A4A54E-9890-4D0A-8A26-AE0751A97230}" dt="2025-11-24T06:16:36.332" v="0" actId="1036"/>
        <pc:sldMkLst>
          <pc:docMk/>
          <pc:sldMk cId="801241151" sldId="261"/>
        </pc:sldMkLst>
        <pc:spChg chg="mod">
          <ac:chgData name="Nishant Verma" userId="eb07076f307cfaf5" providerId="LiveId" clId="{20A4A54E-9890-4D0A-8A26-AE0751A97230}" dt="2025-11-24T06:16:36.332" v="0" actId="1036"/>
          <ac:spMkLst>
            <pc:docMk/>
            <pc:sldMk cId="801241151" sldId="261"/>
            <ac:spMk id="6" creationId="{5BD6ED35-B444-6FF4-2371-D09AB9B0E20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B8AE9C-0A95-4E08-A339-7E86C9B647CE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A4C32-9638-4478-B5FE-F059A23C91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19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A4C32-9638-4478-B5FE-F059A23C914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691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A4C32-9638-4478-B5FE-F059A23C914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296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065C6-0F99-C286-B4D7-81AD003A2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4A226C-4496-7064-AAD4-2EC1393A32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CE236-2CB3-3B3B-12DB-DD43DF910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6AD8-7C7C-48C3-B2AA-7B3C93DE343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1C734-B8CA-CAD5-58A9-5B6792D74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A657F-EC6A-F7EA-5972-C32826287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CC22-F039-4A6E-A847-134CA1F93D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829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0A61C-49EE-E30C-1A82-B45FF9281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CAB06-4F7D-317E-E2CC-EF1046BAB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05C5F-8594-9738-9933-7F835A07A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6AD8-7C7C-48C3-B2AA-7B3C93DE343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57862-FA88-282A-D689-326652536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0796D-BC22-FE42-9F20-7102EB361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CC22-F039-4A6E-A847-134CA1F93D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107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DB18E-2FD3-A0FB-8C7B-458EBE753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A40C1-F7F5-9419-DE69-DD6576968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31FA4-14F2-2A2F-2D2A-A08BEF4D2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6AD8-7C7C-48C3-B2AA-7B3C93DE343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F23AB-6FF2-7B6F-C7E8-C9D1E361E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92A5A-B0E6-26BA-08F8-F456F6C40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CC22-F039-4A6E-A847-134CA1F93D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127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60514-88DE-23BB-0417-71DCAB69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B438C-5D4D-AA55-7891-480B42BEE1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149DE-F24B-0CB6-B7B7-4E57F5331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EC3D8-12C1-C50C-0CAC-F861BC178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6AD8-7C7C-48C3-B2AA-7B3C93DE343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6BBCAD-C357-A3C7-71A5-A9C333E49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6AC437-9813-6ADB-2023-A54D10B3E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CC22-F039-4A6E-A847-134CA1F93D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202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CE88F-88DD-7702-9961-F3DFA2B84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1E325-D0AB-F4DE-DE6F-CC499FF37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7B21A-9462-731F-7909-0947F7368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71E317-02D4-B1A6-16AF-5C4F042638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D71F0-1D9C-A1E9-FD3D-DF8DC1F1FB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B99A2C-0860-2E7B-A530-DDE22FB59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6AD8-7C7C-48C3-B2AA-7B3C93DE343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D3B7B1-5E57-2E28-5B6B-4575137F3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4DB937-9C8F-2E55-29EE-2B350910E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CC22-F039-4A6E-A847-134CA1F93D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417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E5F16-7A95-D4BD-09D4-8428E7590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938F3A-6075-7414-3B60-5FC53C766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6AD8-7C7C-48C3-B2AA-7B3C93DE343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E77107-62AD-A19A-8F2D-07791EA42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959043-5EDF-4B73-F64A-D57C68B56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CC22-F039-4A6E-A847-134CA1F93D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111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2558F5-F47C-C6B0-F222-48324C56C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6AD8-7C7C-48C3-B2AA-7B3C93DE343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750BE2-17B5-3E9C-5044-9D7E2AC9C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E6A53-FE0C-05B0-97C8-1D29E3335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CC22-F039-4A6E-A847-134CA1F93D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824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5ED5E-BB76-43B5-CF0F-152E9DE07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AD2AB-EDEE-33F6-B139-93364A390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AE3FA8-800E-BF60-AB86-40558AFF0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1E842E-98CC-81E9-C0B9-C710DAE72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6AD8-7C7C-48C3-B2AA-7B3C93DE343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3E34B-9ABC-B618-6055-1C73D139F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04382-ABD5-3958-B47B-9D795CCB9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CC22-F039-4A6E-A847-134CA1F93D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258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041F6-8CCC-987E-5AA1-438493119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4DE16D-2492-BEA7-801F-FF6E2CD544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29177C-9529-ED3A-6EC8-1B25F56B6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9AFF5-8D58-86C1-B6AB-5F4962C17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6AD8-7C7C-48C3-B2AA-7B3C93DE343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A8025-EDD0-F50B-C6FD-6EF79D332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83FCDF-C38B-280C-9D86-F2B4CD34B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CC22-F039-4A6E-A847-134CA1F93D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976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9391D-0474-4C6F-95F0-FF86C75C7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E15DF3-FD09-FFDA-788E-730D2DE5A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DC0E6-DFDE-05DA-84B9-0A0F25C3E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6AD8-7C7C-48C3-B2AA-7B3C93DE343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66476-27EE-D5A6-71E7-F79AE439C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398D4-F273-2BAD-05F0-094B03200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CC22-F039-4A6E-A847-134CA1F93D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939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B7FFF7-483C-E3F0-8219-03C78948C6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44DBE7-38E9-9A65-2468-447753729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2E44B-6EFA-856C-D75C-5E07385CD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36AD8-7C7C-48C3-B2AA-7B3C93DE343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76963-C1B8-96A2-C2D9-956D1666D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B7DC8-BD14-4A0B-33EB-A7FBB8BA9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CC22-F039-4A6E-A847-134CA1F93D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61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4146D8-17B3-9F17-C075-5A4995303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219ED4-5E3B-DC51-4E0F-40286A775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41C85-0B2B-6629-0932-F23F93BCC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36AD8-7C7C-48C3-B2AA-7B3C93DE343A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1AA1C-1C85-101F-F661-D7A952B908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035C6-613C-44BB-D9CC-FFBB601FF3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90CC22-F039-4A6E-A847-134CA1F93D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609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888/lab/tree/Python%20Projects/GameZone%20Co%20Analysis.ipynb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237F29-CC6F-E1FE-4167-0C23A9F91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3BCFA2-19E1-8245-EB57-AE305A4BEE31}"/>
              </a:ext>
            </a:extLst>
          </p:cNvPr>
          <p:cNvSpPr txBox="1"/>
          <p:nvPr/>
        </p:nvSpPr>
        <p:spPr>
          <a:xfrm>
            <a:off x="678426" y="853503"/>
            <a:ext cx="103337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Key Insights for</a:t>
            </a:r>
          </a:p>
          <a:p>
            <a:r>
              <a:rPr lang="en-IN" sz="32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Gamezone.co – an E-commerce Gaming company 🎮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9AE55C-1225-4283-9B91-39F24D3EE175}"/>
              </a:ext>
            </a:extLst>
          </p:cNvPr>
          <p:cNvSpPr txBox="1"/>
          <p:nvPr/>
        </p:nvSpPr>
        <p:spPr>
          <a:xfrm>
            <a:off x="678426" y="2721217"/>
            <a:ext cx="10569676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We are solving one key Business Problem Statement for the Executive team:</a:t>
            </a:r>
          </a:p>
          <a:p>
            <a:endParaRPr lang="en-US" sz="28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How can we improve the effectiveness of our sales and marketing efforts across marketing channels, products, and countries, based on customer behavior and transaction patterns?</a:t>
            </a:r>
            <a:endParaRPr lang="en-IN" sz="28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876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5BE44A-2CD2-A869-67F3-00B7536ED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FF9E16-68CD-D05E-DBF3-E5EA86398356}"/>
              </a:ext>
            </a:extLst>
          </p:cNvPr>
          <p:cNvSpPr txBox="1"/>
          <p:nvPr/>
        </p:nvSpPr>
        <p:spPr>
          <a:xfrm>
            <a:off x="412955" y="564744"/>
            <a:ext cx="11674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Project Scope &amp; Dataset Overview: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D6ED35-B444-6FF4-2371-D09AB9B0E20C}"/>
              </a:ext>
            </a:extLst>
          </p:cNvPr>
          <p:cNvSpPr txBox="1"/>
          <p:nvPr/>
        </p:nvSpPr>
        <p:spPr>
          <a:xfrm>
            <a:off x="521110" y="1228353"/>
            <a:ext cx="1124810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800" b="1" u="sng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Dataset Highlights: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Transactional data from Gamezone.co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Covers 2019–2021 (3-year window)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Includes 20,000+ entries across: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Products purchased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Purchase &amp; shipping dates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Platforms and marketing channels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Country of purchase</a:t>
            </a:r>
            <a:endParaRPr lang="en-IN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  <a:p>
            <a:pPr algn="just"/>
            <a:endParaRPr lang="en-IN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  <a:p>
            <a:pPr algn="just"/>
            <a:endParaRPr lang="en-IN" sz="18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  <a:p>
            <a:pPr algn="just"/>
            <a:r>
              <a:rPr lang="en-IN" sz="1800" b="1" u="sng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Objective of this analysis:</a:t>
            </a:r>
          </a:p>
          <a:p>
            <a:pPr algn="just"/>
            <a:r>
              <a:rPr lang="en-IN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</a:t>
            </a:r>
            <a:r>
              <a:rPr lang="en-US" sz="18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his analysis is designed to equip teams </a:t>
            </a:r>
            <a:r>
              <a:rPr lang="en-IN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develop a tailored plan that caters to audience’s evolving demands real-time. </a:t>
            </a:r>
          </a:p>
          <a:p>
            <a:pPr algn="just"/>
            <a:r>
              <a:rPr lang="en-IN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It aims to </a:t>
            </a:r>
            <a:r>
              <a:rPr lang="en-US" sz="18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support decision-making across: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The executive team:</a:t>
            </a:r>
            <a:r>
              <a:rPr lang="en-US" sz="18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with high-level trends and growth opportunities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The marketing team:</a:t>
            </a:r>
            <a:r>
              <a:rPr lang="en-US" sz="18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by identifying top-performing channels and timing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The portfolio and pricing teams:</a:t>
            </a:r>
            <a:r>
              <a:rPr lang="en-US" sz="18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by uncovering product and country-level opportunities for targeted strategy</a:t>
            </a:r>
            <a:endParaRPr lang="en-IN" sz="18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241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0B6A6-7B0B-85BA-C0CA-47F34E2B8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31599E-F53D-2E07-16AE-9528987E6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958" y="1457939"/>
            <a:ext cx="5956935" cy="37645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25BA39-B895-BE51-059F-54730DB98A37}"/>
              </a:ext>
            </a:extLst>
          </p:cNvPr>
          <p:cNvSpPr txBox="1"/>
          <p:nvPr/>
        </p:nvSpPr>
        <p:spPr>
          <a:xfrm>
            <a:off x="7296828" y="1551563"/>
            <a:ext cx="3755326" cy="37548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1400" b="1" dirty="0">
                <a:latin typeface="+mj-lt"/>
              </a:rPr>
              <a:t>Insight:</a:t>
            </a:r>
          </a:p>
          <a:p>
            <a:pPr algn="just"/>
            <a:r>
              <a:rPr lang="en-IN" sz="1400" dirty="0">
                <a:latin typeface="+mj-lt"/>
              </a:rPr>
              <a:t>While the start of the week witnesses moderate sales, the volume consistently increases till it </a:t>
            </a:r>
            <a:r>
              <a:rPr lang="en-IN" sz="1400" b="1" i="1" dirty="0">
                <a:latin typeface="+mj-lt"/>
              </a:rPr>
              <a:t>reaches its peak on Fridays </a:t>
            </a:r>
            <a:r>
              <a:rPr lang="en-IN" sz="1400" dirty="0">
                <a:latin typeface="+mj-lt"/>
              </a:rPr>
              <a:t>(+7% since the start of the week). It then sees a marginal decline over the weekends.</a:t>
            </a:r>
            <a:endParaRPr lang="en-IN" sz="1400" b="1" dirty="0">
              <a:latin typeface="+mj-lt"/>
            </a:endParaRPr>
          </a:p>
          <a:p>
            <a:pPr algn="just"/>
            <a:endParaRPr lang="en-IN" sz="1400" b="1" dirty="0">
              <a:latin typeface="+mj-lt"/>
            </a:endParaRPr>
          </a:p>
          <a:p>
            <a:pPr algn="just"/>
            <a:r>
              <a:rPr lang="en-IN" sz="1400" b="1" dirty="0">
                <a:latin typeface="+mj-lt"/>
              </a:rPr>
              <a:t>So what? (Business importance)</a:t>
            </a:r>
          </a:p>
          <a:p>
            <a:pPr algn="just"/>
            <a:r>
              <a:rPr lang="en-US" sz="1400" dirty="0">
                <a:latin typeface="+mj-lt"/>
              </a:rPr>
              <a:t>Fridays offer a </a:t>
            </a:r>
            <a:r>
              <a:rPr lang="en-US" sz="1400" b="1" i="1" dirty="0">
                <a:latin typeface="+mj-lt"/>
              </a:rPr>
              <a:t>window to influence buyer behavior</a:t>
            </a:r>
            <a:r>
              <a:rPr lang="en-US" sz="1400" dirty="0">
                <a:latin typeface="+mj-lt"/>
              </a:rPr>
              <a:t>. Customers are more active, thus giving a prime opportunity to drive conversions before the weekend slowdown.</a:t>
            </a:r>
          </a:p>
          <a:p>
            <a:pPr algn="just"/>
            <a:endParaRPr lang="en-IN" sz="1400" b="1" dirty="0">
              <a:latin typeface="+mj-lt"/>
            </a:endParaRPr>
          </a:p>
          <a:p>
            <a:pPr algn="just"/>
            <a:r>
              <a:rPr lang="en-IN" sz="1400" b="1" dirty="0">
                <a:latin typeface="+mj-lt"/>
              </a:rPr>
              <a:t>Recommended Action:</a:t>
            </a:r>
          </a:p>
          <a:p>
            <a:pPr algn="just"/>
            <a:r>
              <a:rPr lang="en-US" sz="1400" dirty="0">
                <a:latin typeface="+mj-lt"/>
              </a:rPr>
              <a:t>Time </a:t>
            </a:r>
            <a:r>
              <a:rPr lang="en-US" sz="1400" b="1" i="1" dirty="0">
                <a:latin typeface="+mj-lt"/>
              </a:rPr>
              <a:t>key promotional campaigns, product launches, or limited-time offers/ discounts </a:t>
            </a:r>
            <a:r>
              <a:rPr lang="en-US" sz="1400" dirty="0">
                <a:latin typeface="+mj-lt"/>
              </a:rPr>
              <a:t>on Fridays to </a:t>
            </a:r>
            <a:r>
              <a:rPr lang="en-US" sz="1400" dirty="0" err="1">
                <a:latin typeface="+mj-lt"/>
              </a:rPr>
              <a:t>capitalise</a:t>
            </a:r>
            <a:r>
              <a:rPr lang="en-US" sz="1400" dirty="0">
                <a:latin typeface="+mj-lt"/>
              </a:rPr>
              <a:t> on peak demand.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C3E1AB-CBEF-7791-3F23-8CF250953C25}"/>
              </a:ext>
            </a:extLst>
          </p:cNvPr>
          <p:cNvSpPr/>
          <p:nvPr/>
        </p:nvSpPr>
        <p:spPr>
          <a:xfrm>
            <a:off x="4562145" y="1690590"/>
            <a:ext cx="757084" cy="491613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A8B6835-C86A-BDF5-CC4A-3A048C4AA0E4}"/>
              </a:ext>
            </a:extLst>
          </p:cNvPr>
          <p:cNvCxnSpPr/>
          <p:nvPr/>
        </p:nvCxnSpPr>
        <p:spPr>
          <a:xfrm>
            <a:off x="5319229" y="1936396"/>
            <a:ext cx="36379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D106B48-3124-D322-336B-6F779E99C232}"/>
              </a:ext>
            </a:extLst>
          </p:cNvPr>
          <p:cNvSpPr txBox="1"/>
          <p:nvPr/>
        </p:nvSpPr>
        <p:spPr>
          <a:xfrm>
            <a:off x="5609280" y="1782507"/>
            <a:ext cx="9733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solidFill>
                  <a:srgbClr val="FF0000"/>
                </a:solidFill>
              </a:rPr>
              <a:t>Peak Sales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DB0137-7862-0EBB-47BD-FC834D8EFB22}"/>
              </a:ext>
            </a:extLst>
          </p:cNvPr>
          <p:cNvSpPr txBox="1"/>
          <p:nvPr/>
        </p:nvSpPr>
        <p:spPr>
          <a:xfrm>
            <a:off x="905958" y="138673"/>
            <a:ext cx="99994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Fridays seem the prime day of maximum customer activity, suggesting marketing campaign and offer timelines to be planned accordingly</a:t>
            </a:r>
          </a:p>
        </p:txBody>
      </p:sp>
    </p:spTree>
    <p:extLst>
      <p:ext uri="{BB962C8B-B14F-4D97-AF65-F5344CB8AC3E}">
        <p14:creationId xmlns:p14="http://schemas.microsoft.com/office/powerpoint/2010/main" val="890516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7FE5EA-66F0-F0DA-2774-80CD2465E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218" y="3448270"/>
            <a:ext cx="9403034" cy="32620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60C1BC-549D-E245-8EE7-FCE54E0D6095}"/>
              </a:ext>
            </a:extLst>
          </p:cNvPr>
          <p:cNvSpPr txBox="1"/>
          <p:nvPr/>
        </p:nvSpPr>
        <p:spPr>
          <a:xfrm>
            <a:off x="243633" y="625705"/>
            <a:ext cx="6664063" cy="26930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1300" b="1" dirty="0">
                <a:latin typeface="+mj-lt"/>
              </a:rPr>
              <a:t>Insight: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300" dirty="0">
                <a:latin typeface="+mj-lt"/>
              </a:rPr>
              <a:t>The 27in 4K Gaming Monitor, Nintendo Switch, and PS5 Bundle are the top 3 revenue-driving products with </a:t>
            </a:r>
            <a:r>
              <a:rPr lang="en-US" sz="1300" b="1" i="1" dirty="0">
                <a:latin typeface="+mj-lt"/>
              </a:rPr>
              <a:t>Direct marketing being the most effective channel</a:t>
            </a:r>
            <a:r>
              <a:rPr lang="en-US" sz="1300" dirty="0">
                <a:latin typeface="+mj-lt"/>
              </a:rPr>
              <a:t> across all three, followed by email marketing.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300" b="1" i="1" dirty="0">
                <a:latin typeface="+mj-lt"/>
              </a:rPr>
              <a:t>Complete product bundles (consoles + accessories) sell more consistently</a:t>
            </a:r>
            <a:r>
              <a:rPr lang="en-US" sz="1300" dirty="0">
                <a:latin typeface="+mj-lt"/>
              </a:rPr>
              <a:t> than standalone accessories — except for the monitor, which is a popular outlier.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300" b="1" i="1" dirty="0">
                <a:latin typeface="+mj-lt"/>
              </a:rPr>
              <a:t>Social media channels contribute minimally</a:t>
            </a:r>
            <a:r>
              <a:rPr lang="en-US" sz="1300" dirty="0">
                <a:latin typeface="+mj-lt"/>
              </a:rPr>
              <a:t>, suggesting potential for growth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1300" b="1" dirty="0">
              <a:latin typeface="+mj-lt"/>
            </a:endParaRPr>
          </a:p>
          <a:p>
            <a:pPr algn="just"/>
            <a:r>
              <a:rPr lang="en-IN" sz="1300" b="1" dirty="0">
                <a:latin typeface="+mj-lt"/>
              </a:rPr>
              <a:t>So what? (Business Importance)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300" dirty="0">
                <a:latin typeface="+mj-lt"/>
              </a:rPr>
              <a:t>Channel ROI is currently concentrated, indicating </a:t>
            </a:r>
            <a:r>
              <a:rPr lang="en-US" sz="1300" b="1" i="1" dirty="0">
                <a:latin typeface="+mj-lt"/>
              </a:rPr>
              <a:t>scope for more effective diversification</a:t>
            </a:r>
            <a:r>
              <a:rPr lang="en-US" sz="1300" dirty="0">
                <a:latin typeface="+mj-lt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300" b="1" i="1" dirty="0">
                <a:latin typeface="+mj-lt"/>
              </a:rPr>
              <a:t>Untapped potential on social media </a:t>
            </a:r>
            <a:r>
              <a:rPr lang="en-US" sz="1300" dirty="0">
                <a:latin typeface="+mj-lt"/>
              </a:rPr>
              <a:t>means we're missing awareness opportunities, especially with younger, gaming-savvy buyers.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300" dirty="0">
                <a:latin typeface="+mj-lt"/>
              </a:rPr>
              <a:t>Accessory-focused products might be suffering from </a:t>
            </a:r>
            <a:r>
              <a:rPr lang="en-US" sz="1300" b="1" i="1" dirty="0">
                <a:latin typeface="+mj-lt"/>
              </a:rPr>
              <a:t>low channel visibility</a:t>
            </a:r>
            <a:r>
              <a:rPr lang="en-US" sz="1300" dirty="0">
                <a:latin typeface="+mj-lt"/>
              </a:rPr>
              <a:t>.</a:t>
            </a:r>
            <a:endParaRPr lang="en-IN" sz="13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BA63CF-48AC-0992-BD91-A88347BBACAD}"/>
              </a:ext>
            </a:extLst>
          </p:cNvPr>
          <p:cNvSpPr txBox="1"/>
          <p:nvPr/>
        </p:nvSpPr>
        <p:spPr>
          <a:xfrm>
            <a:off x="7079738" y="625705"/>
            <a:ext cx="4848750" cy="1308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IN" sz="1400" b="1" dirty="0">
                <a:latin typeface="+mj-lt"/>
              </a:rPr>
              <a:t>Recommended Action: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b="1" i="1" dirty="0">
                <a:latin typeface="+mj-lt"/>
              </a:rPr>
              <a:t>Double down on Direct and Email for top-performing bundles</a:t>
            </a:r>
            <a:r>
              <a:rPr lang="en-US" sz="1300" dirty="0">
                <a:latin typeface="+mj-lt"/>
              </a:rPr>
              <a:t> — . Maintain the momentum where ROI is clear.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00" dirty="0">
                <a:latin typeface="+mj-lt"/>
              </a:rPr>
              <a:t>Design </a:t>
            </a:r>
            <a:r>
              <a:rPr lang="en-US" sz="1300" b="1" i="1" dirty="0">
                <a:latin typeface="+mj-lt"/>
              </a:rPr>
              <a:t>targeted social campaigns</a:t>
            </a:r>
            <a:r>
              <a:rPr lang="en-US" sz="1300" dirty="0">
                <a:latin typeface="+mj-lt"/>
              </a:rPr>
              <a:t> (UGC contests, influencer partnerships) for underperforming accessories and emerging products.</a:t>
            </a:r>
            <a:endParaRPr lang="en-IN" sz="13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CC26E9-5269-37EC-FFC0-ED5A70E0BE82}"/>
              </a:ext>
            </a:extLst>
          </p:cNvPr>
          <p:cNvSpPr txBox="1"/>
          <p:nvPr/>
        </p:nvSpPr>
        <p:spPr>
          <a:xfrm>
            <a:off x="796627" y="128097"/>
            <a:ext cx="9999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Direct marketing drives top product revenue; social media remains underleveraged.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22070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D9DF7-257F-FD21-7CED-C64D7A33D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11A9D3-EAD3-6695-45F7-D3922A3E4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12" y="1380153"/>
            <a:ext cx="6219124" cy="35528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431E22A-F80F-3057-B4F6-DC194A2117E6}"/>
              </a:ext>
            </a:extLst>
          </p:cNvPr>
          <p:cNvSpPr txBox="1"/>
          <p:nvPr/>
        </p:nvSpPr>
        <p:spPr>
          <a:xfrm>
            <a:off x="6732878" y="1145497"/>
            <a:ext cx="5186010" cy="50475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1400" b="1" dirty="0">
                <a:latin typeface="+mj-lt"/>
              </a:rPr>
              <a:t>Insight: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27in 4K Gaming Monitor, PS5, and Lenovo products show </a:t>
            </a:r>
            <a:r>
              <a:rPr lang="en-US" sz="1400" b="1" i="1" dirty="0">
                <a:latin typeface="+mj-lt"/>
              </a:rPr>
              <a:t>high revenue despite lower unit sales, indicating strong per-unit profitability.</a:t>
            </a:r>
            <a:r>
              <a:rPr lang="en-US" sz="1400" dirty="0">
                <a:latin typeface="+mj-lt"/>
              </a:rPr>
              <a:t> These are prime candidates for aggressive marketing and bundling promotions.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The </a:t>
            </a:r>
            <a:r>
              <a:rPr lang="en-US" sz="1400" b="1" i="1" dirty="0">
                <a:latin typeface="+mj-lt"/>
              </a:rPr>
              <a:t>PS5 Bundle has a significant revenue–volume mismatch</a:t>
            </a:r>
            <a:r>
              <a:rPr lang="en-US" sz="1400" dirty="0">
                <a:latin typeface="+mj-lt"/>
              </a:rPr>
              <a:t>, suggesting room to test a price increase without hurting demand.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The JBL Gaming Headset shows high unit sales but lower revenue contribution. Consider </a:t>
            </a:r>
            <a:r>
              <a:rPr lang="en-US" sz="1400" b="1" i="1" dirty="0">
                <a:latin typeface="+mj-lt"/>
              </a:rPr>
              <a:t>modest price increases or bundling to boost per-unit value</a:t>
            </a:r>
            <a:r>
              <a:rPr lang="en-US" sz="1400" dirty="0">
                <a:latin typeface="+mj-lt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Several products fall in the low-volume, low-revenue quadrant</a:t>
            </a:r>
            <a:r>
              <a:rPr lang="en-IN" sz="1400" dirty="0">
                <a:latin typeface="+mj-lt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N" sz="1400" b="1" dirty="0">
              <a:latin typeface="+mj-lt"/>
            </a:endParaRPr>
          </a:p>
          <a:p>
            <a:pPr algn="just"/>
            <a:r>
              <a:rPr lang="en-IN" sz="1400" b="1" dirty="0">
                <a:latin typeface="+mj-lt"/>
              </a:rPr>
              <a:t>So what? (Business importance)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High-volume items with low revenue might be </a:t>
            </a:r>
            <a:r>
              <a:rPr lang="en-US" sz="1400" b="1" i="1" dirty="0">
                <a:latin typeface="+mj-lt"/>
              </a:rPr>
              <a:t>underpriced or under-leveraged </a:t>
            </a:r>
            <a:r>
              <a:rPr lang="en-US" sz="1400" dirty="0">
                <a:latin typeface="+mj-lt"/>
              </a:rPr>
              <a:t>– need for revenue </a:t>
            </a:r>
            <a:r>
              <a:rPr lang="en-US" sz="1400" dirty="0" err="1">
                <a:latin typeface="+mj-lt"/>
              </a:rPr>
              <a:t>optimisation</a:t>
            </a:r>
            <a:r>
              <a:rPr lang="en-US" sz="1400" dirty="0">
                <a:latin typeface="+mj-lt"/>
              </a:rPr>
              <a:t>. (JBL, Nintendo)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Some low-performing items need </a:t>
            </a:r>
            <a:r>
              <a:rPr lang="en-US" sz="1400" b="1" i="1" dirty="0">
                <a:latin typeface="+mj-lt"/>
              </a:rPr>
              <a:t>assessment of demand or repositioning</a:t>
            </a:r>
            <a:r>
              <a:rPr lang="en-US" sz="1400" dirty="0">
                <a:latin typeface="+mj-lt"/>
              </a:rPr>
              <a:t>. (Lenovo, PS5)</a:t>
            </a:r>
          </a:p>
          <a:p>
            <a:pPr algn="just"/>
            <a:endParaRPr lang="en-IN" sz="1400" b="1" dirty="0">
              <a:latin typeface="+mj-lt"/>
            </a:endParaRPr>
          </a:p>
          <a:p>
            <a:pPr algn="just"/>
            <a:r>
              <a:rPr lang="en-IN" sz="1400" b="1" dirty="0">
                <a:latin typeface="+mj-lt"/>
              </a:rPr>
              <a:t>Recommended Action: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i="1" dirty="0">
                <a:latin typeface="+mj-lt"/>
              </a:rPr>
              <a:t>Test price increases on PS5 and JBL Headset </a:t>
            </a:r>
            <a:r>
              <a:rPr lang="en-US" sz="1400" dirty="0">
                <a:latin typeface="+mj-lt"/>
              </a:rPr>
              <a:t>via A/B pricing campaigns to assess elasticity.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i="1" dirty="0">
                <a:latin typeface="+mj-lt"/>
              </a:rPr>
              <a:t>Review low-performing products</a:t>
            </a:r>
            <a:r>
              <a:rPr lang="en-US" sz="1400" dirty="0">
                <a:latin typeface="+mj-lt"/>
              </a:rPr>
              <a:t> for potential repositioning, bundling, or discontinuation based on marketing ROI.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47CE25-01F8-6F27-067F-68C5C190625C}"/>
              </a:ext>
            </a:extLst>
          </p:cNvPr>
          <p:cNvSpPr txBox="1"/>
          <p:nvPr/>
        </p:nvSpPr>
        <p:spPr>
          <a:xfrm>
            <a:off x="905958" y="138673"/>
            <a:ext cx="99994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Striking the right balance between volume vs price value is important – the current contrast between the variables gives key insights into pricing strategies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BC3377A-FB03-CE20-203A-C4DEE60C615A}"/>
              </a:ext>
            </a:extLst>
          </p:cNvPr>
          <p:cNvGrpSpPr/>
          <p:nvPr/>
        </p:nvGrpSpPr>
        <p:grpSpPr>
          <a:xfrm>
            <a:off x="2069147" y="5036487"/>
            <a:ext cx="1979765" cy="441360"/>
            <a:chOff x="2027583" y="5231626"/>
            <a:chExt cx="1979765" cy="44136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463AC31-0657-A9D0-4180-2C3F6C412CBC}"/>
                </a:ext>
              </a:extLst>
            </p:cNvPr>
            <p:cNvSpPr txBox="1"/>
            <p:nvPr/>
          </p:nvSpPr>
          <p:spPr>
            <a:xfrm>
              <a:off x="2037522" y="5287617"/>
              <a:ext cx="327992" cy="139148"/>
            </a:xfrm>
            <a:prstGeom prst="rect">
              <a:avLst/>
            </a:prstGeom>
            <a:solidFill>
              <a:srgbClr val="FFA500"/>
            </a:solidFill>
          </p:spPr>
          <p:txBody>
            <a:bodyPr wrap="square" rtlCol="0">
              <a:spAutoFit/>
            </a:bodyPr>
            <a:lstStyle/>
            <a:p>
              <a:endParaRPr lang="en-IN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7DA263B-7B39-AA20-DE87-22337D5737D7}"/>
                </a:ext>
              </a:extLst>
            </p:cNvPr>
            <p:cNvSpPr txBox="1"/>
            <p:nvPr/>
          </p:nvSpPr>
          <p:spPr>
            <a:xfrm>
              <a:off x="2365514" y="5231626"/>
              <a:ext cx="164183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b="1" dirty="0">
                  <a:latin typeface="+mj-lt"/>
                </a:rPr>
                <a:t>Total Revenue (USD)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8D11860-F849-BA25-536F-3EE9925209CF}"/>
                </a:ext>
              </a:extLst>
            </p:cNvPr>
            <p:cNvCxnSpPr/>
            <p:nvPr/>
          </p:nvCxnSpPr>
          <p:spPr>
            <a:xfrm>
              <a:off x="2027583" y="5531819"/>
              <a:ext cx="327992" cy="0"/>
            </a:xfrm>
            <a:prstGeom prst="line">
              <a:avLst/>
            </a:prstGeom>
            <a:ln w="19050">
              <a:solidFill>
                <a:srgbClr val="171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E6DA4989-2382-D793-D7A6-AAA5523730F3}"/>
                </a:ext>
              </a:extLst>
            </p:cNvPr>
            <p:cNvSpPr/>
            <p:nvPr/>
          </p:nvSpPr>
          <p:spPr>
            <a:xfrm>
              <a:off x="2162756" y="5508959"/>
              <a:ext cx="57646" cy="45719"/>
            </a:xfrm>
            <a:prstGeom prst="flowChartConnector">
              <a:avLst/>
            </a:prstGeom>
            <a:solidFill>
              <a:srgbClr val="1717FF"/>
            </a:solidFill>
            <a:ln>
              <a:solidFill>
                <a:srgbClr val="1717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37C80B7-4585-615B-7FF2-914CE4DFD6B0}"/>
                </a:ext>
              </a:extLst>
            </p:cNvPr>
            <p:cNvSpPr txBox="1"/>
            <p:nvPr/>
          </p:nvSpPr>
          <p:spPr>
            <a:xfrm>
              <a:off x="2365514" y="5426765"/>
              <a:ext cx="164183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00" b="1" dirty="0">
                  <a:latin typeface="+mj-lt"/>
                </a:rPr>
                <a:t>Units Sold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6806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36987-3545-0ACF-2432-AC3A5710C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ED7131C-3E7D-532A-30F0-C0A1C2EF8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727" y="2380557"/>
            <a:ext cx="3693730" cy="368566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6F6D065-93DA-4A7E-CAE2-39232B23A308}"/>
              </a:ext>
            </a:extLst>
          </p:cNvPr>
          <p:cNvSpPr txBox="1"/>
          <p:nvPr/>
        </p:nvSpPr>
        <p:spPr>
          <a:xfrm>
            <a:off x="905958" y="98917"/>
            <a:ext cx="99994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Only 37% of the 150 countries have explored more than 4 products – thus highlighting scope of expanding portfolio coverage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58F7A9-C6D1-23FA-7879-12BD5032B4CC}"/>
              </a:ext>
            </a:extLst>
          </p:cNvPr>
          <p:cNvSpPr txBox="1"/>
          <p:nvPr/>
        </p:nvSpPr>
        <p:spPr>
          <a:xfrm>
            <a:off x="5521757" y="2587044"/>
            <a:ext cx="5608527" cy="3108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1400" b="1" dirty="0">
                <a:latin typeface="+mj-lt"/>
              </a:rPr>
              <a:t>Insight: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b="1" i="1" dirty="0">
                <a:latin typeface="+mj-lt"/>
              </a:rPr>
              <a:t>Countries with higher product coverage (5–6+) tend to have higher AOVs</a:t>
            </a:r>
            <a:r>
              <a:rPr lang="en-US" sz="1400" dirty="0">
                <a:latin typeface="+mj-lt"/>
              </a:rPr>
              <a:t>, especially when backed by a decent number of orders.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Countries in the 3–4 product bucket show </a:t>
            </a:r>
            <a:r>
              <a:rPr lang="en-US" sz="1400" b="1" i="1" dirty="0">
                <a:latin typeface="+mj-lt"/>
              </a:rPr>
              <a:t>high variability in AOV</a:t>
            </a:r>
            <a:r>
              <a:rPr lang="en-US" sz="1400" dirty="0">
                <a:latin typeface="+mj-lt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1400" b="1" dirty="0">
              <a:latin typeface="+mj-lt"/>
            </a:endParaRPr>
          </a:p>
          <a:p>
            <a:pPr algn="just"/>
            <a:r>
              <a:rPr lang="en-IN" sz="1400" b="1" dirty="0">
                <a:latin typeface="+mj-lt"/>
              </a:rPr>
              <a:t>So what? (Business Importance)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b="1" i="1" dirty="0">
                <a:latin typeface="+mj-lt"/>
              </a:rPr>
              <a:t>Product visibility and awareness may be low in key regions</a:t>
            </a:r>
            <a:r>
              <a:rPr lang="en-US" sz="1400" dirty="0">
                <a:latin typeface="+mj-lt"/>
              </a:rPr>
              <a:t>, causing customers to stick to familiar or limited offerings.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This creates a </a:t>
            </a:r>
            <a:r>
              <a:rPr lang="en-US" sz="1400" b="1" i="1" dirty="0">
                <a:latin typeface="+mj-lt"/>
              </a:rPr>
              <a:t>missed opportunity</a:t>
            </a:r>
            <a:r>
              <a:rPr lang="en-US" sz="1400" dirty="0">
                <a:latin typeface="+mj-lt"/>
              </a:rPr>
              <a:t> for both cross-selling and increasing order size.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400" dirty="0">
              <a:latin typeface="+mj-lt"/>
            </a:endParaRPr>
          </a:p>
          <a:p>
            <a:pPr algn="just"/>
            <a:r>
              <a:rPr lang="en-IN" sz="1400" b="1" dirty="0">
                <a:latin typeface="+mj-lt"/>
              </a:rPr>
              <a:t>Recommended Action: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Launch </a:t>
            </a:r>
            <a:r>
              <a:rPr lang="en-US" sz="1400" b="1" i="1" dirty="0">
                <a:latin typeface="+mj-lt"/>
              </a:rPr>
              <a:t>product discovery campaigns</a:t>
            </a:r>
            <a:r>
              <a:rPr lang="en-US" sz="1400" dirty="0">
                <a:latin typeface="+mj-lt"/>
              </a:rPr>
              <a:t> in underperforming countries.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Create strategies to promote </a:t>
            </a:r>
            <a:r>
              <a:rPr lang="en-US" sz="1400" b="1" i="1" dirty="0">
                <a:latin typeface="+mj-lt"/>
              </a:rPr>
              <a:t>lesser-known products alongside top-sellers</a:t>
            </a:r>
            <a:r>
              <a:rPr lang="en-US" sz="1400" dirty="0">
                <a:latin typeface="+mj-lt"/>
              </a:rPr>
              <a:t>.</a:t>
            </a:r>
            <a:endParaRPr lang="en-IN" sz="1400" dirty="0">
              <a:latin typeface="+mj-lt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6BF85B2-05CC-4CA4-3851-6DB888868E79}"/>
              </a:ext>
            </a:extLst>
          </p:cNvPr>
          <p:cNvGrpSpPr/>
          <p:nvPr/>
        </p:nvGrpSpPr>
        <p:grpSpPr>
          <a:xfrm>
            <a:off x="790470" y="881730"/>
            <a:ext cx="10435445" cy="1017356"/>
            <a:chOff x="790470" y="1019383"/>
            <a:chExt cx="10435445" cy="101735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19DAB6F-D974-DB9E-D7C9-43A36AD41339}"/>
                </a:ext>
              </a:extLst>
            </p:cNvPr>
            <p:cNvGrpSpPr/>
            <p:nvPr/>
          </p:nvGrpSpPr>
          <p:grpSpPr>
            <a:xfrm>
              <a:off x="790470" y="1019383"/>
              <a:ext cx="10435445" cy="1017356"/>
              <a:chOff x="766125" y="2502962"/>
              <a:chExt cx="10435445" cy="1017356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5D28E300-9B35-4674-0C19-22CFBA9438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6125" y="2502962"/>
                <a:ext cx="10435445" cy="1017356"/>
              </a:xfrm>
              <a:prstGeom prst="rect">
                <a:avLst/>
              </a:prstGeom>
            </p:spPr>
          </p:pic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3843966D-C2E5-CB30-AF19-9E315E8053AD}"/>
                  </a:ext>
                </a:extLst>
              </p:cNvPr>
              <p:cNvGrpSpPr/>
              <p:nvPr/>
            </p:nvGrpSpPr>
            <p:grpSpPr>
              <a:xfrm>
                <a:off x="978862" y="2682908"/>
                <a:ext cx="9592265" cy="410049"/>
                <a:chOff x="910917" y="1341783"/>
                <a:chExt cx="9592265" cy="410049"/>
              </a:xfrm>
            </p:grpSpPr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3723DB5-02E2-9139-60CC-12414C2A009F}"/>
                    </a:ext>
                  </a:extLst>
                </p:cNvPr>
                <p:cNvSpPr txBox="1"/>
                <p:nvPr/>
              </p:nvSpPr>
              <p:spPr>
                <a:xfrm>
                  <a:off x="910917" y="1341783"/>
                  <a:ext cx="41126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000" b="1" dirty="0">
                      <a:solidFill>
                        <a:schemeClr val="bg1"/>
                      </a:solidFill>
                      <a:latin typeface="+mj-lt"/>
                    </a:rPr>
                    <a:t>*8- 3%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0ED3982-5F74-5C21-30BF-E935D70BA7C9}"/>
                    </a:ext>
                  </a:extLst>
                </p:cNvPr>
                <p:cNvSpPr txBox="1"/>
                <p:nvPr/>
              </p:nvSpPr>
              <p:spPr>
                <a:xfrm>
                  <a:off x="1514114" y="1351722"/>
                  <a:ext cx="41126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000" b="1" dirty="0">
                      <a:solidFill>
                        <a:schemeClr val="bg1"/>
                      </a:solidFill>
                      <a:latin typeface="+mj-lt"/>
                    </a:rPr>
                    <a:t>7- 9%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B2AAE94-1A8C-109B-DEB5-7521DB77C1DB}"/>
                    </a:ext>
                  </a:extLst>
                </p:cNvPr>
                <p:cNvSpPr txBox="1"/>
                <p:nvPr/>
              </p:nvSpPr>
              <p:spPr>
                <a:xfrm>
                  <a:off x="2853750" y="1351722"/>
                  <a:ext cx="41126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000" b="1" dirty="0">
                      <a:solidFill>
                        <a:schemeClr val="bg1"/>
                      </a:solidFill>
                      <a:latin typeface="+mj-lt"/>
                    </a:rPr>
                    <a:t>6-18%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085A907-A2D4-EC91-D9D7-D4B3B481FADF}"/>
                    </a:ext>
                  </a:extLst>
                </p:cNvPr>
                <p:cNvSpPr txBox="1"/>
                <p:nvPr/>
              </p:nvSpPr>
              <p:spPr>
                <a:xfrm>
                  <a:off x="4193386" y="1351722"/>
                  <a:ext cx="41126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000" b="1" dirty="0">
                      <a:solidFill>
                        <a:schemeClr val="bg1"/>
                      </a:solidFill>
                      <a:latin typeface="+mj-lt"/>
                    </a:rPr>
                    <a:t>5-7%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2FC0698-1C3F-6AB6-D573-2B4B7587F0DE}"/>
                    </a:ext>
                  </a:extLst>
                </p:cNvPr>
                <p:cNvSpPr txBox="1"/>
                <p:nvPr/>
              </p:nvSpPr>
              <p:spPr>
                <a:xfrm>
                  <a:off x="5018206" y="1351722"/>
                  <a:ext cx="41126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000" b="1" dirty="0">
                      <a:solidFill>
                        <a:schemeClr val="bg1"/>
                      </a:solidFill>
                      <a:latin typeface="+mj-lt"/>
                    </a:rPr>
                    <a:t>4-10%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1FEA33D-4C29-A170-5B65-733F003D9F51}"/>
                    </a:ext>
                  </a:extLst>
                </p:cNvPr>
                <p:cNvSpPr txBox="1"/>
                <p:nvPr/>
              </p:nvSpPr>
              <p:spPr>
                <a:xfrm>
                  <a:off x="6556904" y="1351722"/>
                  <a:ext cx="41126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000" b="1" dirty="0">
                      <a:solidFill>
                        <a:schemeClr val="bg1"/>
                      </a:solidFill>
                      <a:latin typeface="+mj-lt"/>
                    </a:rPr>
                    <a:t>3-19%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57B813D-C114-ABC9-018B-B69071919E0A}"/>
                    </a:ext>
                  </a:extLst>
                </p:cNvPr>
                <p:cNvSpPr txBox="1"/>
                <p:nvPr/>
              </p:nvSpPr>
              <p:spPr>
                <a:xfrm>
                  <a:off x="8249869" y="1351722"/>
                  <a:ext cx="41126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000" b="1" dirty="0">
                      <a:solidFill>
                        <a:schemeClr val="bg1"/>
                      </a:solidFill>
                      <a:latin typeface="+mj-lt"/>
                    </a:rPr>
                    <a:t>2-16%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AC61697-F780-3E54-18AC-A70D1FF82A9A}"/>
                    </a:ext>
                  </a:extLst>
                </p:cNvPr>
                <p:cNvSpPr txBox="1"/>
                <p:nvPr/>
              </p:nvSpPr>
              <p:spPr>
                <a:xfrm>
                  <a:off x="10091921" y="1351722"/>
                  <a:ext cx="41126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000" b="1" dirty="0">
                      <a:solidFill>
                        <a:schemeClr val="bg1"/>
                      </a:solidFill>
                      <a:latin typeface="+mj-lt"/>
                    </a:rPr>
                    <a:t>1-19%</a:t>
                  </a:r>
                </a:p>
              </p:txBody>
            </p:sp>
          </p:grp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6AA834D-9128-5E1F-3957-CABB759C6EBD}"/>
                </a:ext>
              </a:extLst>
            </p:cNvPr>
            <p:cNvSpPr txBox="1"/>
            <p:nvPr/>
          </p:nvSpPr>
          <p:spPr>
            <a:xfrm>
              <a:off x="5680199" y="1925656"/>
              <a:ext cx="869687" cy="1110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endParaRPr lang="en-IN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7DA34884-3419-E3FD-E630-FC04C60EE3FF}"/>
              </a:ext>
            </a:extLst>
          </p:cNvPr>
          <p:cNvSpPr txBox="1"/>
          <p:nvPr/>
        </p:nvSpPr>
        <p:spPr>
          <a:xfrm>
            <a:off x="8813054" y="1820379"/>
            <a:ext cx="2317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i="1" dirty="0">
                <a:latin typeface="+mj-lt"/>
              </a:rPr>
              <a:t>*The numbers indicate unique products sold in the respective country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800" i="1" dirty="0">
                <a:latin typeface="+mj-lt"/>
              </a:rPr>
              <a:t>% refers to the % of countries out of 150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03C878-96DD-C89C-0B45-EA921E71BCC9}"/>
              </a:ext>
            </a:extLst>
          </p:cNvPr>
          <p:cNvSpPr txBox="1"/>
          <p:nvPr/>
        </p:nvSpPr>
        <p:spPr>
          <a:xfrm>
            <a:off x="1532082" y="2088971"/>
            <a:ext cx="3693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 b="1" dirty="0">
                <a:latin typeface="+mj-lt"/>
              </a:rPr>
              <a:t>Correlation between Product Portfolio coverage vs Average </a:t>
            </a:r>
          </a:p>
          <a:p>
            <a:pPr algn="ctr"/>
            <a:r>
              <a:rPr lang="en-IN" sz="1000" b="1" dirty="0">
                <a:latin typeface="+mj-lt"/>
              </a:rPr>
              <a:t>Order Value (Size = Orders Count)</a:t>
            </a:r>
          </a:p>
        </p:txBody>
      </p:sp>
    </p:spTree>
    <p:extLst>
      <p:ext uri="{BB962C8B-B14F-4D97-AF65-F5344CB8AC3E}">
        <p14:creationId xmlns:p14="http://schemas.microsoft.com/office/powerpoint/2010/main" val="2540717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B2481-AE10-F3AF-40FC-39271902E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0E1FE2-5DDC-6466-B6C3-78CC61CEFE23}"/>
              </a:ext>
            </a:extLst>
          </p:cNvPr>
          <p:cNvSpPr txBox="1"/>
          <p:nvPr/>
        </p:nvSpPr>
        <p:spPr>
          <a:xfrm>
            <a:off x="324465" y="173351"/>
            <a:ext cx="10569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+mj-lt"/>
              </a:rPr>
              <a:t>The approach followed for the analysis:</a:t>
            </a:r>
            <a:endParaRPr lang="en-IN" sz="2000" b="1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ADF47A-30DA-85A7-B4A3-4BF4350C2561}"/>
              </a:ext>
            </a:extLst>
          </p:cNvPr>
          <p:cNvSpPr txBox="1"/>
          <p:nvPr/>
        </p:nvSpPr>
        <p:spPr>
          <a:xfrm>
            <a:off x="324465" y="815840"/>
            <a:ext cx="1154307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400" b="1" dirty="0">
                <a:latin typeface="+mj-lt"/>
              </a:rPr>
              <a:t>Understanding and conceptualising the data: </a:t>
            </a:r>
            <a:r>
              <a:rPr lang="en-IN" sz="1400" dirty="0">
                <a:latin typeface="+mj-lt"/>
              </a:rPr>
              <a:t>Identified critical columns for analysis, understood the data structure, and made note of questions that can be answered for the business (sales drivers, product diversity, increasing AOV, etc.)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b="1" dirty="0">
                <a:latin typeface="+mj-lt"/>
              </a:rPr>
              <a:t>Data Cleaning and Preparation: </a:t>
            </a:r>
            <a:r>
              <a:rPr lang="en-IN" sz="1400" dirty="0">
                <a:latin typeface="+mj-lt"/>
              </a:rPr>
              <a:t>Evaluated the consistency of the dataset, checked consistency in terms of business logic, missing values. Created a log as follows:   </a:t>
            </a:r>
          </a:p>
          <a:p>
            <a:pPr marL="342900" indent="-342900">
              <a:buFont typeface="+mj-lt"/>
              <a:buAutoNum type="arabicPeriod"/>
            </a:pPr>
            <a:endParaRPr lang="en-IN" sz="1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sz="1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sz="1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sz="1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sz="1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sz="1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sz="1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sz="1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sz="1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sz="1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sz="1400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endParaRPr lang="en-IN" sz="1400" b="1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400" b="1" dirty="0">
                <a:latin typeface="+mj-lt"/>
              </a:rPr>
              <a:t>Identified the limitations/ assumptions to keep in mind. For example: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Dollar value differs even for the same product within and across countries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Business logic inconsistency: Shipping date &gt; Order date for 2000 cases</a:t>
            </a:r>
            <a:endParaRPr lang="en-IN" sz="1400" b="1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400" b="1" dirty="0">
                <a:latin typeface="+mj-lt"/>
              </a:rPr>
              <a:t>Exploratory Analysis (Python: </a:t>
            </a:r>
            <a:r>
              <a:rPr lang="en-IN" sz="1400" b="1" dirty="0" err="1">
                <a:latin typeface="+mj-lt"/>
              </a:rPr>
              <a:t>numpy</a:t>
            </a:r>
            <a:r>
              <a:rPr lang="en-IN" sz="1400" b="1" dirty="0">
                <a:latin typeface="+mj-lt"/>
              </a:rPr>
              <a:t> and pandas - </a:t>
            </a:r>
            <a:r>
              <a:rPr lang="en-IN" sz="1400" b="1" dirty="0" err="1">
                <a:latin typeface="+mj-lt"/>
                <a:hlinkClick r:id="rId3"/>
              </a:rPr>
              <a:t>Jupytr</a:t>
            </a:r>
            <a:r>
              <a:rPr lang="en-IN" sz="1400" b="1" dirty="0">
                <a:latin typeface="+mj-lt"/>
                <a:hlinkClick r:id="rId3"/>
              </a:rPr>
              <a:t> notebook link here</a:t>
            </a:r>
            <a:r>
              <a:rPr lang="en-IN" sz="1400" b="1" dirty="0">
                <a:latin typeface="+mj-lt"/>
              </a:rPr>
              <a:t>):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Grouped, segmented, and aggregated data to extract patterns across products, channels, and countries.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Analyzed various variables of the data to understand repeat user trend/ frequency, operational efficiency such as shipping delays, average price point and variance in the price range of products across countries, and so 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>
                <a:latin typeface="+mj-lt"/>
              </a:rPr>
              <a:t>Visualization (Python: matplotlib, seaborn):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Created clear, interpretable visual summaries to support each insight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>
                <a:latin typeface="+mj-lt"/>
              </a:rPr>
              <a:t>Final </a:t>
            </a:r>
            <a:r>
              <a:rPr lang="en-US" sz="1400" b="1" dirty="0" err="1">
                <a:latin typeface="+mj-lt"/>
              </a:rPr>
              <a:t>Storylining</a:t>
            </a:r>
            <a:r>
              <a:rPr lang="en-US" sz="1400" b="1" dirty="0">
                <a:latin typeface="+mj-lt"/>
              </a:rPr>
              <a:t> for clear business impact: </a:t>
            </a:r>
            <a:r>
              <a:rPr lang="en-US" sz="1400" dirty="0">
                <a:latin typeface="+mj-lt"/>
              </a:rPr>
              <a:t>Framed each insight using “Insight → So What → Recommendation” for clarity and actionability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1A7D5F-DCEB-3187-2383-BF2967521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773" y="1852010"/>
            <a:ext cx="4394697" cy="218683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65120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4F36E7-7C25-CCF9-D94C-048C97876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4E2353-776D-9357-70EB-B5938D6222F5}"/>
              </a:ext>
            </a:extLst>
          </p:cNvPr>
          <p:cNvSpPr txBox="1"/>
          <p:nvPr/>
        </p:nvSpPr>
        <p:spPr>
          <a:xfrm>
            <a:off x="811162" y="2844225"/>
            <a:ext cx="10569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THANK YOU!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198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1556</TotalTime>
  <Words>1065</Words>
  <Application>Microsoft Office PowerPoint</Application>
  <PresentationFormat>Widescreen</PresentationFormat>
  <Paragraphs>112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Nishant Verma</dc:creator>
  <cp:lastModifiedBy>Nishant Verma</cp:lastModifiedBy>
  <cp:revision>27</cp:revision>
  <dcterms:created xsi:type="dcterms:W3CDTF">2025-06-25T17:59:04Z</dcterms:created>
  <dcterms:modified xsi:type="dcterms:W3CDTF">2025-11-24T06:16:47Z</dcterms:modified>
</cp:coreProperties>
</file>